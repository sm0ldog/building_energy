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51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g Si Liang" userId="89ec4480-ae13-4888-907d-2246b1da10fc" providerId="ADAL" clId="{333FD5D4-863F-44C7-9C6B-81ACE29014E2}"/>
    <pc:docChg chg="undo custSel modSld">
      <pc:chgData name="Heng Si Liang" userId="89ec4480-ae13-4888-907d-2246b1da10fc" providerId="ADAL" clId="{333FD5D4-863F-44C7-9C6B-81ACE29014E2}" dt="2026-07-16T04:05:23.961" v="44" actId="1076"/>
      <pc:docMkLst>
        <pc:docMk/>
      </pc:docMkLst>
      <pc:sldChg chg="modSp mod">
        <pc:chgData name="Heng Si Liang" userId="89ec4480-ae13-4888-907d-2246b1da10fc" providerId="ADAL" clId="{333FD5D4-863F-44C7-9C6B-81ACE29014E2}" dt="2026-07-15T07:31:56.998" v="4" actId="1076"/>
        <pc:sldMkLst>
          <pc:docMk/>
          <pc:sldMk cId="0" sldId="260"/>
        </pc:sldMkLst>
        <pc:spChg chg="mod">
          <ac:chgData name="Heng Si Liang" userId="89ec4480-ae13-4888-907d-2246b1da10fc" providerId="ADAL" clId="{333FD5D4-863F-44C7-9C6B-81ACE29014E2}" dt="2026-07-15T07:31:56.998" v="4" actId="1076"/>
          <ac:spMkLst>
            <pc:docMk/>
            <pc:sldMk cId="0" sldId="260"/>
            <ac:spMk id="11" creationId="{00000000-0000-0000-0000-000000000000}"/>
          </ac:spMkLst>
        </pc:spChg>
      </pc:sldChg>
      <pc:sldChg chg="modSp mod">
        <pc:chgData name="Heng Si Liang" userId="89ec4480-ae13-4888-907d-2246b1da10fc" providerId="ADAL" clId="{333FD5D4-863F-44C7-9C6B-81ACE29014E2}" dt="2026-07-16T04:05:23.961" v="44" actId="1076"/>
        <pc:sldMkLst>
          <pc:docMk/>
          <pc:sldMk cId="0" sldId="262"/>
        </pc:sldMkLst>
        <pc:spChg chg="mod">
          <ac:chgData name="Heng Si Liang" userId="89ec4480-ae13-4888-907d-2246b1da10fc" providerId="ADAL" clId="{333FD5D4-863F-44C7-9C6B-81ACE29014E2}" dt="2026-07-16T04:03:59.592" v="43" actId="1035"/>
          <ac:spMkLst>
            <pc:docMk/>
            <pc:sldMk cId="0" sldId="262"/>
            <ac:spMk id="13" creationId="{00000000-0000-0000-0000-000000000000}"/>
          </ac:spMkLst>
        </pc:spChg>
        <pc:spChg chg="mod">
          <ac:chgData name="Heng Si Liang" userId="89ec4480-ae13-4888-907d-2246b1da10fc" providerId="ADAL" clId="{333FD5D4-863F-44C7-9C6B-81ACE29014E2}" dt="2026-07-16T04:03:59.592" v="43" actId="1035"/>
          <ac:spMkLst>
            <pc:docMk/>
            <pc:sldMk cId="0" sldId="262"/>
            <ac:spMk id="14" creationId="{00000000-0000-0000-0000-000000000000}"/>
          </ac:spMkLst>
        </pc:spChg>
        <pc:spChg chg="mod">
          <ac:chgData name="Heng Si Liang" userId="89ec4480-ae13-4888-907d-2246b1da10fc" providerId="ADAL" clId="{333FD5D4-863F-44C7-9C6B-81ACE29014E2}" dt="2026-07-16T04:03:59.592" v="43" actId="1035"/>
          <ac:spMkLst>
            <pc:docMk/>
            <pc:sldMk cId="0" sldId="262"/>
            <ac:spMk id="15" creationId="{00000000-0000-0000-0000-000000000000}"/>
          </ac:spMkLst>
        </pc:spChg>
        <pc:spChg chg="mod">
          <ac:chgData name="Heng Si Liang" userId="89ec4480-ae13-4888-907d-2246b1da10fc" providerId="ADAL" clId="{333FD5D4-863F-44C7-9C6B-81ACE29014E2}" dt="2026-07-16T04:03:59.592" v="43" actId="1035"/>
          <ac:spMkLst>
            <pc:docMk/>
            <pc:sldMk cId="0" sldId="262"/>
            <ac:spMk id="16" creationId="{00000000-0000-0000-0000-000000000000}"/>
          </ac:spMkLst>
        </pc:spChg>
        <pc:spChg chg="mod">
          <ac:chgData name="Heng Si Liang" userId="89ec4480-ae13-4888-907d-2246b1da10fc" providerId="ADAL" clId="{333FD5D4-863F-44C7-9C6B-81ACE29014E2}" dt="2026-07-16T04:03:59.592" v="43" actId="1035"/>
          <ac:spMkLst>
            <pc:docMk/>
            <pc:sldMk cId="0" sldId="262"/>
            <ac:spMk id="17" creationId="{00000000-0000-0000-0000-000000000000}"/>
          </ac:spMkLst>
        </pc:spChg>
        <pc:spChg chg="mod">
          <ac:chgData name="Heng Si Liang" userId="89ec4480-ae13-4888-907d-2246b1da10fc" providerId="ADAL" clId="{333FD5D4-863F-44C7-9C6B-81ACE29014E2}" dt="2026-07-16T04:03:59.592" v="43" actId="1035"/>
          <ac:spMkLst>
            <pc:docMk/>
            <pc:sldMk cId="0" sldId="262"/>
            <ac:spMk id="18" creationId="{00000000-0000-0000-0000-000000000000}"/>
          </ac:spMkLst>
        </pc:spChg>
        <pc:spChg chg="mod">
          <ac:chgData name="Heng Si Liang" userId="89ec4480-ae13-4888-907d-2246b1da10fc" providerId="ADAL" clId="{333FD5D4-863F-44C7-9C6B-81ACE29014E2}" dt="2026-07-16T04:03:59.592" v="43" actId="1035"/>
          <ac:spMkLst>
            <pc:docMk/>
            <pc:sldMk cId="0" sldId="262"/>
            <ac:spMk id="19" creationId="{00000000-0000-0000-0000-000000000000}"/>
          </ac:spMkLst>
        </pc:spChg>
        <pc:spChg chg="mod">
          <ac:chgData name="Heng Si Liang" userId="89ec4480-ae13-4888-907d-2246b1da10fc" providerId="ADAL" clId="{333FD5D4-863F-44C7-9C6B-81ACE29014E2}" dt="2026-07-16T04:03:59.592" v="43" actId="1035"/>
          <ac:spMkLst>
            <pc:docMk/>
            <pc:sldMk cId="0" sldId="262"/>
            <ac:spMk id="20" creationId="{00000000-0000-0000-0000-000000000000}"/>
          </ac:spMkLst>
        </pc:spChg>
        <pc:spChg chg="mod">
          <ac:chgData name="Heng Si Liang" userId="89ec4480-ae13-4888-907d-2246b1da10fc" providerId="ADAL" clId="{333FD5D4-863F-44C7-9C6B-81ACE29014E2}" dt="2026-07-16T04:05:23.961" v="44" actId="1076"/>
          <ac:spMkLst>
            <pc:docMk/>
            <pc:sldMk cId="0" sldId="262"/>
            <ac:spMk id="21" creationId="{00000000-0000-0000-0000-000000000000}"/>
          </ac:spMkLst>
        </pc:spChg>
      </pc:sldChg>
      <pc:sldChg chg="addSp delSp modSp mod">
        <pc:chgData name="Heng Si Liang" userId="89ec4480-ae13-4888-907d-2246b1da10fc" providerId="ADAL" clId="{333FD5D4-863F-44C7-9C6B-81ACE29014E2}" dt="2026-07-15T03:03:06.938" v="3" actId="478"/>
        <pc:sldMkLst>
          <pc:docMk/>
          <pc:sldMk cId="0" sldId="264"/>
        </pc:sldMkLst>
        <pc:picChg chg="mod">
          <ac:chgData name="Heng Si Liang" userId="89ec4480-ae13-4888-907d-2246b1da10fc" providerId="ADAL" clId="{333FD5D4-863F-44C7-9C6B-81ACE29014E2}" dt="2026-07-15T03:01:43.316" v="1" actId="1076"/>
          <ac:picMkLst>
            <pc:docMk/>
            <pc:sldMk cId="0" sldId="264"/>
            <ac:picMk id="3" creationId="{00000000-0000-0000-0000-000000000000}"/>
          </ac:picMkLst>
        </pc:picChg>
        <pc:picChg chg="add del">
          <ac:chgData name="Heng Si Liang" userId="89ec4480-ae13-4888-907d-2246b1da10fc" providerId="ADAL" clId="{333FD5D4-863F-44C7-9C6B-81ACE29014E2}" dt="2026-07-15T03:03:06.938" v="3" actId="478"/>
          <ac:picMkLst>
            <pc:docMk/>
            <pc:sldMk cId="0" sldId="264"/>
            <ac:picMk id="5" creationId="{00000000-0000-0000-0000-000000000000}"/>
          </ac:picMkLst>
        </pc:picChg>
      </pc:sldChg>
      <pc:sldChg chg="modSp mod">
        <pc:chgData name="Heng Si Liang" userId="89ec4480-ae13-4888-907d-2246b1da10fc" providerId="ADAL" clId="{333FD5D4-863F-44C7-9C6B-81ACE29014E2}" dt="2026-07-16T03:51:20.166" v="6" actId="1076"/>
        <pc:sldMkLst>
          <pc:docMk/>
          <pc:sldMk cId="0" sldId="265"/>
        </pc:sldMkLst>
        <pc:spChg chg="mod">
          <ac:chgData name="Heng Si Liang" userId="89ec4480-ae13-4888-907d-2246b1da10fc" providerId="ADAL" clId="{333FD5D4-863F-44C7-9C6B-81ACE29014E2}" dt="2026-07-16T03:51:20.166" v="6" actId="1076"/>
          <ac:spMkLst>
            <pc:docMk/>
            <pc:sldMk cId="0" sldId="265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Tampines Street 83 Precinct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FD3EA"/>
                </a:solidFill>
                <a:latin typeface="Calibri"/>
              </a:rPr>
              <a:t>Structural Layout &amp; Architectural Directory  —  Tampines Parkview (HDB)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77639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Unit types · Floor layouts · Floor size · Window size &amp; orientation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Blocks: 857, 863, 857A, 857B, 863A, 863B, 862, 862A, 864, 864A  ·  Est. 1987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FB4CC"/>
                </a:solidFill>
                <a:latin typeface="Calibri"/>
              </a:rPr>
              <a:t>Source: HDB block signage (857B, 862A, 864A), Tampines Parkview master report (est. 1987). Verify with official HDB floor plans.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1. Precinct Master Specification Table</a:t>
            </a:r>
          </a:p>
          <a:p>
            <a:r>
              <a:rPr sz="1300">
                <a:solidFill>
                  <a:srgbClr val="BFD3EA"/>
                </a:solidFill>
              </a:rPr>
              <a:t>All 10 blocks along Tampines Street 83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34440"/>
          <a:ext cx="111556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Block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Typology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Storeys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4-Rm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5-Rm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EM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Floor Size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Orientation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Windows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</a:rPr>
                        <a:t>857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</a:rPr>
                        <a:t>Exec Maisonette Slab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Maisonette (Duplex)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Up to 11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146-154 m2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N-S Axis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Dbl-height + casement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</a:rPr>
                        <a:t>863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</a:rPr>
                        <a:t>Exec Maisonette Slab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Maisonette (Duplex)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Up to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146-154 m2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N-S Axis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Dbl-height + casement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</a:rPr>
                        <a:t>857A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</a:rPr>
                        <a:t>Low-Rise Point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Model A / Improved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104-122 m2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N-S Vector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4-6 / 5-7 panes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</a:rPr>
                        <a:t>857B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</a:rPr>
                        <a:t>Low-Rise 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Model A / Improved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104-122 m2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N-S 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4-6 / 5-7 panes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</a:rPr>
                        <a:t>863A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</a:rPr>
                        <a:t>Low-Rise Point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Model A / Improved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104-122 m2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N-S Vector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4-6 / 5-7 panes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</a:rPr>
                        <a:t>863B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</a:rPr>
                        <a:t>Low-Rise 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Model A / Improved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104-122 m2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N-S 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4-6 / 5-7 panes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</a:rPr>
                        <a:t>862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</a:rPr>
                        <a:t>High-Rise Slab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Model A / Improved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Up to 13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96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104-122 m2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N-S Vector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4-6 / 5-7 panes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</a:rPr>
                        <a:t>862A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</a:rPr>
                        <a:t>High-Rise Slab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Model A / Improved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Up to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104-122 m2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N-S 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4-6 / 5-7 panes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</a:rPr>
                        <a:t>864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</a:rPr>
                        <a:t>High-Rise Slab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Model A / Improved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Up to 13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96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104-122 m2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N-S Vector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4-6 / 5-7 panes</a:t>
                      </a:r>
                    </a:p>
                  </a:txBody>
                  <a:tcPr>
                    <a:solidFill>
                      <a:srgbClr val="EC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22222"/>
                          </a:solidFill>
                        </a:rPr>
                        <a:t>864A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</a:rPr>
                        <a:t>High-Rise Slab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Model A / Improved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Up to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104-122 m2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N-S 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22222"/>
                          </a:solidFill>
                        </a:rPr>
                        <a:t>4-6 / 5-7 panes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</a:rPr>
                        <a:t>Precinct Aggregate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246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192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160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598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All N-S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Calibri"/>
              </a:rPr>
              <a:t>Source: HDB block signage (857B, 862A, 864A), Tampines Parkview master report (est. 1987). Verify with official HDB floor plans.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2. Grouped Summary — 3 Typology Groups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325880"/>
            <a:ext cx="3703320" cy="914400"/>
          </a:xfrm>
          <a:prstGeom prst="roundRect">
            <a:avLst/>
          </a:prstGeom>
          <a:solidFill>
            <a:srgbClr val="FFE9A8"/>
          </a:solidFill>
          <a:ln w="25400">
            <a:solidFill>
              <a:srgbClr val="C7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22222"/>
                </a:solidFill>
              </a:rPr>
              <a:t>GROUP 1 · Executive Maisonette Slab</a:t>
            </a:r>
          </a:p>
          <a:p>
            <a:pPr algn="ctr"/>
            <a:r>
              <a:rPr sz="1200" b="1">
                <a:solidFill>
                  <a:srgbClr val="C79A1E"/>
                </a:solidFill>
              </a:rPr>
              <a:t>Blocks 857, 863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2331720"/>
            <a:ext cx="3703320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C7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tlCol="0" anchor="ctr"/>
          <a:lstStyle/>
          <a:p>
            <a:pPr algn="ctr"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Long linear double-storey (duplex) slab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Up to 11 storeys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80 units/block = 80 Exec Maisonette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Floor size: 146-154 m2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Orientation: North-South Axis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Windows: double-height glazing +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  casement (upper quarters)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2 lift/stair cores + common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325880"/>
            <a:ext cx="3703320" cy="914400"/>
          </a:xfrm>
          <a:prstGeom prst="roundRect">
            <a:avLst/>
          </a:prstGeom>
          <a:solidFill>
            <a:srgbClr val="CFE3FF"/>
          </a:solidFill>
          <a:ln w="25400">
            <a:solidFill>
              <a:srgbClr val="2F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22222"/>
                </a:solidFill>
              </a:rPr>
              <a:t>GROUP 2 · Low-Rise 4-Storey Point</a:t>
            </a:r>
          </a:p>
          <a:p>
            <a:pPr algn="ctr"/>
            <a:r>
              <a:rPr sz="1200" b="1">
                <a:solidFill>
                  <a:srgbClr val="2F6BD6"/>
                </a:solidFill>
              </a:rPr>
              <a:t>Blocks 857A, 857B, 863A, 863B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0832" y="2331720"/>
            <a:ext cx="3703320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tlCol="0" anchor="ctr"/>
          <a:lstStyle/>
          <a:p>
            <a:pPr algn="ctr"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L-shaped point block, 4 units/floor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4 storeys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16 units/block = 10x4-Rm + 6x5-Rm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Floor size: 104-122 m2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Orientation: North-South Vector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Windows: 4-6 (4Rm) / 5-7 (5Rm) panes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Stacks 390,392 = 5-Rm; 394,396 = 4-Rm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1 stair/lift entry lobby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30184" y="1325880"/>
            <a:ext cx="3703320" cy="914400"/>
          </a:xfrm>
          <a:prstGeom prst="roundRect">
            <a:avLst/>
          </a:prstGeom>
          <a:solidFill>
            <a:srgbClr val="FFD6D6"/>
          </a:solidFill>
          <a:ln w="2540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222222"/>
                </a:solidFill>
              </a:rPr>
              <a:t>GROUP 3 · High-Rise Slab</a:t>
            </a:r>
          </a:p>
          <a:p>
            <a:pPr algn="ctr"/>
            <a:r>
              <a:rPr sz="1200" b="1">
                <a:solidFill>
                  <a:srgbClr val="D64545"/>
                </a:solidFill>
              </a:rPr>
              <a:t>Blocks 862, 862A, 864, 864A</a:t>
            </a:r>
          </a:p>
        </p:txBody>
      </p:sp>
      <p:sp>
        <p:nvSpPr>
          <p:cNvPr id="8" name="Rectangle 7"/>
          <p:cNvSpPr/>
          <p:nvPr/>
        </p:nvSpPr>
        <p:spPr>
          <a:xfrm>
            <a:off x="8330184" y="2331720"/>
            <a:ext cx="3703320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tlCol="0" anchor="ctr"/>
          <a:lstStyle/>
          <a:p>
            <a:pPr algn="ctr"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Slab: 5-Rm end wings + 4-Rm core run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Up to 13 storeys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96 units/block = 54x4-Rm + 42x5-Rm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Floor size: 104-122 m2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Orientation: North-South Vector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Windows: 4-6 (4Rm) / 5-7 (5Rm) panes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862/862A dog-leg; 864/864A I-slab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222222"/>
                </a:solidFill>
              </a:rPr>
              <a:t>• 2 lift/stair cores + dry riser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Precinct aggregate: 246 x 4-Room + 192 x 5-Room + 160 Exec Maisonette = 598 units.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3A. Blocks 857 &amp; 863 — Executive Maisonette Long Slab</a:t>
            </a:r>
          </a:p>
          <a:p>
            <a:r>
              <a:rPr sz="1300">
                <a:solidFill>
                  <a:srgbClr val="BFD3EA"/>
                </a:solidFill>
              </a:rPr>
              <a:t>8 maisonette stacks in two segments · 2 lift/stair cores · continuous common-access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344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Segment 1 — West Half (Stacks 1-4)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00200"/>
            <a:ext cx="1737360" cy="1005840"/>
          </a:xfrm>
          <a:prstGeom prst="rect">
            <a:avLst/>
          </a:prstGeom>
          <a:solidFill>
            <a:srgbClr val="FFE9A8"/>
          </a:solidFill>
          <a:ln w="19050">
            <a:solidFill>
              <a:srgbClr val="C7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Stack 01</a:t>
            </a:r>
          </a:p>
          <a:p>
            <a:pPr algn="ctr"/>
            <a:r>
              <a:rPr sz="1200" b="1">
                <a:solidFill>
                  <a:srgbClr val="222222"/>
                </a:solidFill>
              </a:rPr>
              <a:t>Maisonette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0" y="1600200"/>
            <a:ext cx="1737360" cy="1005840"/>
          </a:xfrm>
          <a:prstGeom prst="rect">
            <a:avLst/>
          </a:prstGeom>
          <a:solidFill>
            <a:srgbClr val="FFE9A8"/>
          </a:solidFill>
          <a:ln w="19050">
            <a:solidFill>
              <a:srgbClr val="C7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Stack 02</a:t>
            </a:r>
          </a:p>
          <a:p>
            <a:pPr algn="ctr"/>
            <a:r>
              <a:rPr sz="1200" b="1">
                <a:solidFill>
                  <a:srgbClr val="222222"/>
                </a:solidFill>
              </a:rPr>
              <a:t>Maisonette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600200"/>
            <a:ext cx="1371600" cy="1005840"/>
          </a:xfrm>
          <a:prstGeom prst="rect">
            <a:avLst/>
          </a:prstGeom>
          <a:solidFill>
            <a:srgbClr val="E0E0E0"/>
          </a:solidFill>
          <a:ln w="19050">
            <a:solidFill>
              <a:srgbClr val="88888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100" b="1">
                <a:solidFill>
                  <a:srgbClr val="222222"/>
                </a:solidFill>
              </a:rPr>
              <a:t>LIFT A</a:t>
            </a:r>
          </a:p>
          <a:p>
            <a:pPr algn="ctr"/>
            <a:r>
              <a:rPr sz="1100" b="1">
                <a:solidFill>
                  <a:srgbClr val="222222"/>
                </a:solidFill>
              </a:rPr>
              <a:t>+ STAIR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600200"/>
            <a:ext cx="1737360" cy="1005840"/>
          </a:xfrm>
          <a:prstGeom prst="rect">
            <a:avLst/>
          </a:prstGeom>
          <a:solidFill>
            <a:srgbClr val="FFE9A8"/>
          </a:solidFill>
          <a:ln w="19050">
            <a:solidFill>
              <a:srgbClr val="C7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LIFT A</a:t>
            </a:r>
          </a:p>
          <a:p>
            <a:pPr algn="ctr"/>
            <a:r>
              <a:rPr sz="1200" b="1">
                <a:solidFill>
                  <a:srgbClr val="222222"/>
                </a:solidFill>
              </a:rPr>
              <a:t>+ STAIR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600200"/>
            <a:ext cx="1737360" cy="1005840"/>
          </a:xfrm>
          <a:prstGeom prst="rect">
            <a:avLst/>
          </a:prstGeom>
          <a:solidFill>
            <a:srgbClr val="FFE9A8"/>
          </a:solidFill>
          <a:ln w="19050">
            <a:solidFill>
              <a:srgbClr val="C7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Stack 03</a:t>
            </a:r>
          </a:p>
          <a:p>
            <a:pPr algn="ctr"/>
            <a:r>
              <a:rPr sz="1200" b="1">
                <a:solidFill>
                  <a:srgbClr val="222222"/>
                </a:solidFill>
              </a:rPr>
              <a:t>Maisonette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04120" y="1600200"/>
            <a:ext cx="1737360" cy="1005840"/>
          </a:xfrm>
          <a:prstGeom prst="rect">
            <a:avLst/>
          </a:prstGeom>
          <a:solidFill>
            <a:srgbClr val="FFE9A8"/>
          </a:solidFill>
          <a:ln w="19050">
            <a:solidFill>
              <a:srgbClr val="C7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Stack 04</a:t>
            </a:r>
          </a:p>
          <a:p>
            <a:pPr algn="ctr"/>
            <a:r>
              <a:rPr sz="1200" b="1">
                <a:solidFill>
                  <a:srgbClr val="222222"/>
                </a:solidFill>
              </a:rPr>
              <a:t>Maisonette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679192"/>
            <a:ext cx="10744200" cy="292608"/>
          </a:xfrm>
          <a:prstGeom prst="rect">
            <a:avLst/>
          </a:prstGeom>
          <a:solidFill>
            <a:srgbClr val="ECF1F7"/>
          </a:solidFill>
          <a:ln>
            <a:solidFill>
              <a:srgbClr val="88888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i="1">
                <a:solidFill>
                  <a:srgbClr val="888888"/>
                </a:solidFill>
              </a:rPr>
              <a:t>===== Continuous Common Access Deck (West) =====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Segment 2 — East Half (Stacks 5-8)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794760"/>
            <a:ext cx="1737360" cy="1005840"/>
          </a:xfrm>
          <a:prstGeom prst="rect">
            <a:avLst/>
          </a:prstGeom>
          <a:solidFill>
            <a:srgbClr val="FFE9A8"/>
          </a:solidFill>
          <a:ln w="19050">
            <a:solidFill>
              <a:srgbClr val="C7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Stack 05</a:t>
            </a:r>
          </a:p>
          <a:p>
            <a:pPr algn="ctr"/>
            <a:r>
              <a:rPr sz="1200" b="1">
                <a:solidFill>
                  <a:srgbClr val="222222"/>
                </a:solidFill>
              </a:rPr>
              <a:t>Maisonette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3794760"/>
            <a:ext cx="1737360" cy="1005840"/>
          </a:xfrm>
          <a:prstGeom prst="rect">
            <a:avLst/>
          </a:prstGeom>
          <a:solidFill>
            <a:srgbClr val="FFE9A8"/>
          </a:solidFill>
          <a:ln w="19050">
            <a:solidFill>
              <a:srgbClr val="C7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Stack 06</a:t>
            </a:r>
          </a:p>
          <a:p>
            <a:pPr algn="ctr"/>
            <a:r>
              <a:rPr sz="1200" b="1">
                <a:solidFill>
                  <a:srgbClr val="222222"/>
                </a:solidFill>
              </a:rPr>
              <a:t>Maisonette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3794760"/>
            <a:ext cx="1371600" cy="1005840"/>
          </a:xfrm>
          <a:prstGeom prst="rect">
            <a:avLst/>
          </a:prstGeom>
          <a:solidFill>
            <a:srgbClr val="E0E0E0"/>
          </a:solidFill>
          <a:ln w="19050">
            <a:solidFill>
              <a:srgbClr val="88888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100" b="1">
                <a:solidFill>
                  <a:srgbClr val="222222"/>
                </a:solidFill>
              </a:rPr>
              <a:t>LIFT B</a:t>
            </a:r>
          </a:p>
          <a:p>
            <a:pPr algn="ctr"/>
            <a:r>
              <a:rPr sz="1100" b="1">
                <a:solidFill>
                  <a:srgbClr val="222222"/>
                </a:solidFill>
              </a:rPr>
              <a:t>+ STAIR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3794760"/>
            <a:ext cx="1737360" cy="1005840"/>
          </a:xfrm>
          <a:prstGeom prst="rect">
            <a:avLst/>
          </a:prstGeom>
          <a:solidFill>
            <a:srgbClr val="FFE9A8"/>
          </a:solidFill>
          <a:ln w="19050">
            <a:solidFill>
              <a:srgbClr val="C7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LIFT B</a:t>
            </a:r>
          </a:p>
          <a:p>
            <a:pPr algn="ctr"/>
            <a:r>
              <a:rPr sz="1200" b="1">
                <a:solidFill>
                  <a:srgbClr val="222222"/>
                </a:solidFill>
              </a:rPr>
              <a:t>+ STAIR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794760"/>
            <a:ext cx="1737360" cy="1005840"/>
          </a:xfrm>
          <a:prstGeom prst="rect">
            <a:avLst/>
          </a:prstGeom>
          <a:solidFill>
            <a:srgbClr val="FFE9A8"/>
          </a:solidFill>
          <a:ln w="19050">
            <a:solidFill>
              <a:srgbClr val="C7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Stack 07</a:t>
            </a:r>
          </a:p>
          <a:p>
            <a:pPr algn="ctr"/>
            <a:r>
              <a:rPr sz="1200" b="1">
                <a:solidFill>
                  <a:srgbClr val="222222"/>
                </a:solidFill>
              </a:rPr>
              <a:t>Maisonette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04120" y="3794760"/>
            <a:ext cx="1737360" cy="1005840"/>
          </a:xfrm>
          <a:prstGeom prst="rect">
            <a:avLst/>
          </a:prstGeom>
          <a:solidFill>
            <a:srgbClr val="FFE9A8"/>
          </a:solidFill>
          <a:ln w="19050">
            <a:solidFill>
              <a:srgbClr val="C7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Stack 08</a:t>
            </a:r>
          </a:p>
          <a:p>
            <a:pPr algn="ctr"/>
            <a:r>
              <a:rPr sz="1200" b="1">
                <a:solidFill>
                  <a:srgbClr val="222222"/>
                </a:solidFill>
              </a:rPr>
              <a:t>Maisonette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873752"/>
            <a:ext cx="10744200" cy="292608"/>
          </a:xfrm>
          <a:prstGeom prst="rect">
            <a:avLst/>
          </a:prstGeom>
          <a:solidFill>
            <a:srgbClr val="ECF1F7"/>
          </a:solidFill>
          <a:ln>
            <a:solidFill>
              <a:srgbClr val="88888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i="1">
                <a:solidFill>
                  <a:srgbClr val="888888"/>
                </a:solidFill>
              </a:rPr>
              <a:t>===== Continuous Common Access Deck (East) =====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532120"/>
            <a:ext cx="256032" cy="256032"/>
          </a:xfrm>
          <a:prstGeom prst="rect">
            <a:avLst/>
          </a:prstGeom>
          <a:solidFill>
            <a:srgbClr val="CFE3FF"/>
          </a:solidFill>
          <a:ln w="19050">
            <a:solidFill>
              <a:srgbClr val="2F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550468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4-Room Model 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5532120"/>
            <a:ext cx="256032" cy="256032"/>
          </a:xfrm>
          <a:prstGeom prst="rect">
            <a:avLst/>
          </a:prstGeom>
          <a:solidFill>
            <a:srgbClr val="FFD6D6"/>
          </a:solidFill>
          <a:ln w="1905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64408" y="550468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5-Room Improved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5532120"/>
            <a:ext cx="256032" cy="256032"/>
          </a:xfrm>
          <a:prstGeom prst="rect">
            <a:avLst/>
          </a:prstGeom>
          <a:solidFill>
            <a:srgbClr val="FFE9A8"/>
          </a:solidFill>
          <a:ln w="19050">
            <a:solidFill>
              <a:srgbClr val="C7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79008" y="550468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Exec Maisonette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5532120"/>
            <a:ext cx="256032" cy="256032"/>
          </a:xfrm>
          <a:prstGeom prst="rect">
            <a:avLst/>
          </a:prstGeom>
          <a:solidFill>
            <a:srgbClr val="E0E0E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93608" y="550468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Lift / Stair 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89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All 80 units per block are Executive Maisonette duplexes (146-154 m2), oriented on the North-South axis. Lower balcony: double-height structural glazing; upper private quarters: heavy-frame casement windows.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3B. Blocks 857A, 857B, 863A, 863B — Low-Rise 4-Storey Point Block</a:t>
            </a:r>
          </a:p>
          <a:p>
            <a:r>
              <a:rPr sz="1300">
                <a:solidFill>
                  <a:srgbClr val="BFD3EA"/>
                </a:solidFill>
              </a:rPr>
              <a:t>4 units per floor around one stair/lift lobby (per Block 857B signage)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91840" y="1554480"/>
            <a:ext cx="2011680" cy="1051560"/>
          </a:xfrm>
          <a:prstGeom prst="rect">
            <a:avLst/>
          </a:prstGeom>
          <a:solidFill>
            <a:srgbClr val="E0E0E0"/>
          </a:solidFill>
          <a:ln w="19050">
            <a:solidFill>
              <a:srgbClr val="88888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STAIR / LIFT</a:t>
            </a:r>
          </a:p>
          <a:p>
            <a:pPr algn="ctr"/>
            <a:r>
              <a:rPr sz="1200" b="1">
                <a:solidFill>
                  <a:srgbClr val="222222"/>
                </a:solidFill>
              </a:rPr>
              <a:t>ENTRY LOBBY</a:t>
            </a:r>
          </a:p>
          <a:p>
            <a:pPr algn="ctr"/>
            <a:r>
              <a:rPr sz="1200" b="1">
                <a:solidFill>
                  <a:srgbClr val="222222"/>
                </a:solidFill>
              </a:rPr>
              <a:t>(ES)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2743200"/>
            <a:ext cx="2011680" cy="1051560"/>
          </a:xfrm>
          <a:prstGeom prst="rect">
            <a:avLst/>
          </a:prstGeom>
          <a:solidFill>
            <a:srgbClr val="CFE3FF"/>
          </a:solidFill>
          <a:ln w="19050">
            <a:solidFill>
              <a:srgbClr val="2F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394</a:t>
            </a:r>
          </a:p>
          <a:p>
            <a:pPr algn="ctr"/>
            <a:r>
              <a:rPr sz="1400" b="1">
                <a:solidFill>
                  <a:srgbClr val="222222"/>
                </a:solidFill>
              </a:rPr>
              <a:t>4-Room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3931920"/>
            <a:ext cx="2011680" cy="1051560"/>
          </a:xfrm>
          <a:prstGeom prst="rect">
            <a:avLst/>
          </a:prstGeom>
          <a:solidFill>
            <a:srgbClr val="CFE3FF"/>
          </a:solidFill>
          <a:ln w="19050">
            <a:solidFill>
              <a:srgbClr val="2F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396</a:t>
            </a:r>
          </a:p>
          <a:p>
            <a:pPr algn="ctr"/>
            <a:r>
              <a:rPr sz="1400" b="1">
                <a:solidFill>
                  <a:srgbClr val="222222"/>
                </a:solidFill>
              </a:rPr>
              <a:t>4-Room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0" y="1554480"/>
            <a:ext cx="2011680" cy="1051560"/>
          </a:xfrm>
          <a:prstGeom prst="rect">
            <a:avLst/>
          </a:prstGeom>
          <a:solidFill>
            <a:srgbClr val="FFD6D6"/>
          </a:solidFill>
          <a:ln w="1905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392</a:t>
            </a:r>
          </a:p>
          <a:p>
            <a:pPr algn="ctr"/>
            <a:r>
              <a:rPr sz="1400" b="1">
                <a:solidFill>
                  <a:srgbClr val="222222"/>
                </a:solidFill>
              </a:rPr>
              <a:t>5-Room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20" y="1554480"/>
            <a:ext cx="2011680" cy="1051560"/>
          </a:xfrm>
          <a:prstGeom prst="rect">
            <a:avLst/>
          </a:prstGeom>
          <a:solidFill>
            <a:srgbClr val="FFD6D6"/>
          </a:solidFill>
          <a:ln w="1905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400" b="1">
                <a:solidFill>
                  <a:srgbClr val="222222"/>
                </a:solidFill>
              </a:rPr>
              <a:t>390</a:t>
            </a:r>
          </a:p>
          <a:p>
            <a:pPr algn="ctr"/>
            <a:r>
              <a:rPr sz="1400" b="1">
                <a:solidFill>
                  <a:srgbClr val="222222"/>
                </a:solidFill>
              </a:rPr>
              <a:t>5-Room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120640"/>
            <a:ext cx="256032" cy="256032"/>
          </a:xfrm>
          <a:prstGeom prst="rect">
            <a:avLst/>
          </a:prstGeom>
          <a:solidFill>
            <a:srgbClr val="CFE3FF"/>
          </a:solidFill>
          <a:ln w="19050">
            <a:solidFill>
              <a:srgbClr val="2F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09320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4-Room Model 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5120640"/>
            <a:ext cx="256032" cy="256032"/>
          </a:xfrm>
          <a:prstGeom prst="rect">
            <a:avLst/>
          </a:prstGeom>
          <a:solidFill>
            <a:srgbClr val="FFD6D6"/>
          </a:solidFill>
          <a:ln w="1905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5088636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5-Room Improved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5120640"/>
            <a:ext cx="256032" cy="256032"/>
          </a:xfrm>
          <a:prstGeom prst="rect">
            <a:avLst/>
          </a:prstGeom>
          <a:solidFill>
            <a:srgbClr val="FFE9A8"/>
          </a:solidFill>
          <a:ln w="19050">
            <a:solidFill>
              <a:srgbClr val="C7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79008" y="509320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Exec Maisonette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5120640"/>
            <a:ext cx="256032" cy="256032"/>
          </a:xfrm>
          <a:prstGeom prst="rect">
            <a:avLst/>
          </a:prstGeom>
          <a:solidFill>
            <a:srgbClr val="E0E0E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509320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Lift / Stair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356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L-shaped, high-privacy point block · 4 storeys · 16 units/block (10 x 4-Room + 6 x 5-Room) · 104-122 m2 · North-South vector.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Corridor-facing rooms use high sill lines and sandblasted privacy glass louvres; living rooms face N-S for cross-ventilation.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3C. Blocks 862 &amp; 862A — High-Rise Dog-Leg Slab</a:t>
            </a:r>
          </a:p>
          <a:p>
            <a:r>
              <a:rPr sz="1300">
                <a:solidFill>
                  <a:srgbClr val="BFD3EA"/>
                </a:solidFill>
              </a:rPr>
              <a:t>5-Room end wings + central 4-Room run · 2 cores (per Block 862A signage)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828800"/>
            <a:ext cx="1234440" cy="1051560"/>
          </a:xfrm>
          <a:prstGeom prst="rect">
            <a:avLst/>
          </a:prstGeom>
          <a:solidFill>
            <a:srgbClr val="FFD6D6"/>
          </a:solidFill>
          <a:ln w="1905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300" b="1">
                <a:solidFill>
                  <a:srgbClr val="222222"/>
                </a:solidFill>
              </a:rPr>
              <a:t>414</a:t>
            </a:r>
          </a:p>
          <a:p>
            <a:pPr algn="ctr"/>
            <a:r>
              <a:rPr sz="1300" b="1">
                <a:solidFill>
                  <a:srgbClr val="222222"/>
                </a:solidFill>
              </a:rPr>
              <a:t>5-Room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017520"/>
            <a:ext cx="1234440" cy="1051560"/>
          </a:xfrm>
          <a:prstGeom prst="rect">
            <a:avLst/>
          </a:prstGeom>
          <a:solidFill>
            <a:srgbClr val="FFD6D6"/>
          </a:solidFill>
          <a:ln w="1905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300" b="1">
                <a:solidFill>
                  <a:srgbClr val="222222"/>
                </a:solidFill>
              </a:rPr>
              <a:t>416</a:t>
            </a:r>
          </a:p>
          <a:p>
            <a:pPr algn="ctr"/>
            <a:r>
              <a:rPr sz="1300" b="1">
                <a:solidFill>
                  <a:srgbClr val="222222"/>
                </a:solidFill>
              </a:rPr>
              <a:t>5-Room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1965960" y="3017520"/>
            <a:ext cx="1051560" cy="1051560"/>
          </a:xfrm>
          <a:prstGeom prst="rect">
            <a:avLst/>
          </a:prstGeom>
          <a:solidFill>
            <a:srgbClr val="E0E0E0"/>
          </a:solidFill>
          <a:ln w="19050">
            <a:solidFill>
              <a:srgbClr val="88888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000" b="1">
                <a:solidFill>
                  <a:srgbClr val="222222"/>
                </a:solidFill>
              </a:rPr>
              <a:t>LIFT A</a:t>
            </a:r>
          </a:p>
          <a:p>
            <a:pPr algn="ctr"/>
            <a:r>
              <a:rPr sz="1000" b="1">
                <a:solidFill>
                  <a:srgbClr val="222222"/>
                </a:solidFill>
              </a:rPr>
              <a:t>+ 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27248" y="3017520"/>
            <a:ext cx="1234440" cy="1051560"/>
          </a:xfrm>
          <a:prstGeom prst="rect">
            <a:avLst/>
          </a:prstGeom>
          <a:solidFill>
            <a:srgbClr val="CFE3FF"/>
          </a:solidFill>
          <a:ln w="19050">
            <a:solidFill>
              <a:srgbClr val="2F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418</a:t>
            </a:r>
          </a:p>
          <a:p>
            <a:pPr algn="ctr"/>
            <a:r>
              <a:rPr sz="1200" b="1">
                <a:solidFill>
                  <a:srgbClr val="222222"/>
                </a:solidFill>
              </a:rPr>
              <a:t>4-Room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1416" y="3017520"/>
            <a:ext cx="1234440" cy="1051560"/>
          </a:xfrm>
          <a:prstGeom prst="rect">
            <a:avLst/>
          </a:prstGeom>
          <a:solidFill>
            <a:srgbClr val="CFE3FF"/>
          </a:solidFill>
          <a:ln w="19050">
            <a:solidFill>
              <a:srgbClr val="2F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420</a:t>
            </a:r>
          </a:p>
          <a:p>
            <a:pPr algn="ctr"/>
            <a:r>
              <a:rPr sz="1200" b="1">
                <a:solidFill>
                  <a:srgbClr val="222222"/>
                </a:solidFill>
              </a:rPr>
              <a:t>4-Room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5584" y="3017520"/>
            <a:ext cx="1234440" cy="1051560"/>
          </a:xfrm>
          <a:prstGeom prst="rect">
            <a:avLst/>
          </a:prstGeom>
          <a:solidFill>
            <a:srgbClr val="CFE3FF"/>
          </a:solidFill>
          <a:ln w="19050">
            <a:solidFill>
              <a:srgbClr val="2F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422</a:t>
            </a:r>
          </a:p>
          <a:p>
            <a:pPr algn="ctr"/>
            <a:r>
              <a:rPr sz="1200" b="1">
                <a:solidFill>
                  <a:srgbClr val="222222"/>
                </a:solidFill>
              </a:rPr>
              <a:t>4-Room</a:t>
            </a:r>
          </a:p>
        </p:txBody>
      </p:sp>
      <p:sp>
        <p:nvSpPr>
          <p:cNvPr id="9" name="Rectangle 8"/>
          <p:cNvSpPr/>
          <p:nvPr/>
        </p:nvSpPr>
        <p:spPr>
          <a:xfrm>
            <a:off x="7159752" y="3017520"/>
            <a:ext cx="1234440" cy="1051560"/>
          </a:xfrm>
          <a:prstGeom prst="rect">
            <a:avLst/>
          </a:prstGeom>
          <a:solidFill>
            <a:srgbClr val="CFE3FF"/>
          </a:solidFill>
          <a:ln w="19050">
            <a:solidFill>
              <a:srgbClr val="2F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424</a:t>
            </a:r>
          </a:p>
          <a:p>
            <a:pPr algn="ctr"/>
            <a:r>
              <a:rPr sz="1200" b="1">
                <a:solidFill>
                  <a:srgbClr val="222222"/>
                </a:solidFill>
              </a:rPr>
              <a:t>4-Room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3017520"/>
            <a:ext cx="1051560" cy="1051560"/>
          </a:xfrm>
          <a:prstGeom prst="rect">
            <a:avLst/>
          </a:prstGeom>
          <a:solidFill>
            <a:srgbClr val="E0E0E0"/>
          </a:solidFill>
          <a:ln w="19050">
            <a:solidFill>
              <a:srgbClr val="88888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000" b="1">
                <a:solidFill>
                  <a:srgbClr val="222222"/>
                </a:solidFill>
              </a:rPr>
              <a:t>LIFT B</a:t>
            </a:r>
          </a:p>
          <a:p>
            <a:pPr algn="ctr"/>
            <a:r>
              <a:rPr sz="1000" b="1">
                <a:solidFill>
                  <a:srgbClr val="222222"/>
                </a:solidFill>
              </a:rPr>
              <a:t>+ ES/DR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65208" y="1828800"/>
            <a:ext cx="1234440" cy="1051560"/>
          </a:xfrm>
          <a:prstGeom prst="rect">
            <a:avLst/>
          </a:prstGeom>
          <a:solidFill>
            <a:srgbClr val="FFD6D6"/>
          </a:solidFill>
          <a:ln w="1905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300" b="1">
                <a:solidFill>
                  <a:srgbClr val="222222"/>
                </a:solidFill>
              </a:rPr>
              <a:t>426</a:t>
            </a:r>
          </a:p>
          <a:p>
            <a:pPr algn="ctr"/>
            <a:r>
              <a:rPr sz="1300" b="1">
                <a:solidFill>
                  <a:srgbClr val="222222"/>
                </a:solidFill>
              </a:rPr>
              <a:t>5-Room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65208" y="4206240"/>
            <a:ext cx="1234440" cy="1051560"/>
          </a:xfrm>
          <a:prstGeom prst="rect">
            <a:avLst/>
          </a:prstGeom>
          <a:solidFill>
            <a:srgbClr val="FFD6D6"/>
          </a:solidFill>
          <a:ln w="1905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300" b="1">
                <a:solidFill>
                  <a:srgbClr val="222222"/>
                </a:solidFill>
              </a:rPr>
              <a:t>428</a:t>
            </a:r>
          </a:p>
          <a:p>
            <a:pPr algn="ctr"/>
            <a:r>
              <a:rPr sz="1300" b="1">
                <a:solidFill>
                  <a:srgbClr val="222222"/>
                </a:solidFill>
              </a:rPr>
              <a:t>5-Room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20640"/>
            <a:ext cx="256032" cy="256032"/>
          </a:xfrm>
          <a:prstGeom prst="rect">
            <a:avLst/>
          </a:prstGeom>
          <a:solidFill>
            <a:srgbClr val="CFE3FF"/>
          </a:solidFill>
          <a:ln w="19050">
            <a:solidFill>
              <a:srgbClr val="2F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509320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4-Room Model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71800" y="5120640"/>
            <a:ext cx="256032" cy="256032"/>
          </a:xfrm>
          <a:prstGeom prst="rect">
            <a:avLst/>
          </a:prstGeom>
          <a:solidFill>
            <a:srgbClr val="FFD6D6"/>
          </a:solidFill>
          <a:ln w="1905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64408" y="509320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5-Room Improved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5120640"/>
            <a:ext cx="256032" cy="256032"/>
          </a:xfrm>
          <a:prstGeom prst="rect">
            <a:avLst/>
          </a:prstGeom>
          <a:solidFill>
            <a:srgbClr val="FFE9A8"/>
          </a:solidFill>
          <a:ln w="19050">
            <a:solidFill>
              <a:srgbClr val="C7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79008" y="509320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Exec Maisonette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5120640"/>
            <a:ext cx="256032" cy="256032"/>
          </a:xfrm>
          <a:prstGeom prst="rect">
            <a:avLst/>
          </a:prstGeom>
          <a:solidFill>
            <a:srgbClr val="E0E0E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93608" y="509320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Lift / Stair 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2356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High-rise slab · up to 13 storeys · 96 units/block (54 x 4-Room + 42 x 5-Room) · 104-122 m2 · North-South vector.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5-Room Improved units occupy the end wings for corner exposure; 4-Room Model A units line the central corridor.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3D. Blocks 864 &amp; 864A — High-Rise Linear I-Slab</a:t>
            </a:r>
          </a:p>
          <a:p>
            <a:r>
              <a:rPr sz="1300">
                <a:solidFill>
                  <a:srgbClr val="BFD3EA"/>
                </a:solidFill>
              </a:rPr>
              <a:t>4-Room corridor run · 5-Room units isolated at both ends (per Block 864A signage)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371600"/>
            <a:ext cx="1554480" cy="713232"/>
          </a:xfrm>
          <a:prstGeom prst="rect">
            <a:avLst/>
          </a:prstGeom>
          <a:solidFill>
            <a:srgbClr val="E0E0E0"/>
          </a:solidFill>
          <a:ln w="19050">
            <a:solidFill>
              <a:srgbClr val="88888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000" b="1">
                <a:solidFill>
                  <a:srgbClr val="222222"/>
                </a:solidFill>
              </a:rPr>
              <a:t>LIFT A</a:t>
            </a:r>
          </a:p>
          <a:p>
            <a:pPr algn="ctr"/>
            <a:r>
              <a:rPr sz="1000" b="1">
                <a:solidFill>
                  <a:srgbClr val="222222"/>
                </a:solidFill>
              </a:rPr>
              <a:t>+ ES/DR</a:t>
            </a:r>
          </a:p>
        </p:txBody>
      </p:sp>
      <p:sp>
        <p:nvSpPr>
          <p:cNvPr id="4" name="Rectangle 3"/>
          <p:cNvSpPr/>
          <p:nvPr/>
        </p:nvSpPr>
        <p:spPr>
          <a:xfrm>
            <a:off x="4937760" y="1371600"/>
            <a:ext cx="1554480" cy="713232"/>
          </a:xfrm>
          <a:prstGeom prst="rect">
            <a:avLst/>
          </a:prstGeom>
          <a:solidFill>
            <a:srgbClr val="CFE3FF"/>
          </a:solidFill>
          <a:ln w="19050">
            <a:solidFill>
              <a:srgbClr val="2F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458  4-Room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0" y="1371600"/>
            <a:ext cx="1554480" cy="713232"/>
          </a:xfrm>
          <a:prstGeom prst="rect">
            <a:avLst/>
          </a:prstGeom>
          <a:solidFill>
            <a:srgbClr val="FFD6D6"/>
          </a:solidFill>
          <a:ln w="1905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460  5-Room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2194560"/>
            <a:ext cx="1554480" cy="713232"/>
          </a:xfrm>
          <a:prstGeom prst="rect">
            <a:avLst/>
          </a:prstGeom>
          <a:solidFill>
            <a:srgbClr val="CFE3FF"/>
          </a:solidFill>
          <a:ln w="19050">
            <a:solidFill>
              <a:srgbClr val="2F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456  4-Room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3017520"/>
            <a:ext cx="1554480" cy="713232"/>
          </a:xfrm>
          <a:prstGeom prst="rect">
            <a:avLst/>
          </a:prstGeom>
          <a:solidFill>
            <a:srgbClr val="CFE3FF"/>
          </a:solidFill>
          <a:ln w="19050">
            <a:solidFill>
              <a:srgbClr val="2F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454  4-Room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3840480"/>
            <a:ext cx="1554480" cy="713232"/>
          </a:xfrm>
          <a:prstGeom prst="rect">
            <a:avLst/>
          </a:prstGeom>
          <a:solidFill>
            <a:srgbClr val="CFE3FF"/>
          </a:solidFill>
          <a:ln w="19050">
            <a:solidFill>
              <a:srgbClr val="2F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452  4-Room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4663440"/>
            <a:ext cx="1554480" cy="713232"/>
          </a:xfrm>
          <a:prstGeom prst="rect">
            <a:avLst/>
          </a:prstGeom>
          <a:solidFill>
            <a:srgbClr val="E0E0E0"/>
          </a:solidFill>
          <a:ln w="19050">
            <a:solidFill>
              <a:srgbClr val="88888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000" b="1">
                <a:solidFill>
                  <a:srgbClr val="222222"/>
                </a:solidFill>
              </a:rPr>
              <a:t>LIFT B</a:t>
            </a:r>
          </a:p>
          <a:p>
            <a:pPr algn="ctr"/>
            <a:r>
              <a:rPr sz="1000" b="1">
                <a:solidFill>
                  <a:srgbClr val="222222"/>
                </a:solidFill>
              </a:rPr>
              <a:t>+ ES/DR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4663440"/>
            <a:ext cx="1554480" cy="713232"/>
          </a:xfrm>
          <a:prstGeom prst="rect">
            <a:avLst/>
          </a:prstGeom>
          <a:solidFill>
            <a:srgbClr val="CFE3FF"/>
          </a:solidFill>
          <a:ln w="19050">
            <a:solidFill>
              <a:srgbClr val="2F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450  4-Room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5486400"/>
            <a:ext cx="1554480" cy="713232"/>
          </a:xfrm>
          <a:prstGeom prst="rect">
            <a:avLst/>
          </a:prstGeom>
          <a:solidFill>
            <a:srgbClr val="FFD6D6"/>
          </a:solidFill>
          <a:ln w="1905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446  5-Room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5486400"/>
            <a:ext cx="1554480" cy="713232"/>
          </a:xfrm>
          <a:prstGeom prst="rect">
            <a:avLst/>
          </a:prstGeom>
          <a:solidFill>
            <a:srgbClr val="FFD6D6"/>
          </a:solidFill>
          <a:ln w="1905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448  5-Room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546894"/>
            <a:ext cx="256032" cy="256032"/>
          </a:xfrm>
          <a:prstGeom prst="rect">
            <a:avLst/>
          </a:prstGeom>
          <a:solidFill>
            <a:srgbClr val="CFE3FF"/>
          </a:solidFill>
          <a:ln w="19050">
            <a:solidFill>
              <a:srgbClr val="2F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651946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4-Room Model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71800" y="6546894"/>
            <a:ext cx="256032" cy="256032"/>
          </a:xfrm>
          <a:prstGeom prst="rect">
            <a:avLst/>
          </a:prstGeom>
          <a:solidFill>
            <a:srgbClr val="FFD6D6"/>
          </a:solidFill>
          <a:ln w="19050"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64408" y="651946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5-Room Improved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6546894"/>
            <a:ext cx="256032" cy="256032"/>
          </a:xfrm>
          <a:prstGeom prst="rect">
            <a:avLst/>
          </a:prstGeom>
          <a:solidFill>
            <a:srgbClr val="FFE9A8"/>
          </a:solidFill>
          <a:ln w="19050">
            <a:solidFill>
              <a:srgbClr val="C7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79008" y="651946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Exec Maisonette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6546894"/>
            <a:ext cx="256032" cy="256032"/>
          </a:xfrm>
          <a:prstGeom prst="rect">
            <a:avLst/>
          </a:prstGeom>
          <a:solidFill>
            <a:srgbClr val="E0E0E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93608" y="651946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Lift / Stair 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1402" y="3182112"/>
            <a:ext cx="44805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222222"/>
                </a:solidFill>
                <a:latin typeface="Calibri"/>
              </a:rPr>
              <a:t>Straight linear I-slab. The 4-Room Model A units form a single corridor run (450-458). The 5-Room Improved units (446, 448, 460) are isolated at the bottom-left projection and the top-right end for privacy and corner exposure.</a:t>
            </a:r>
          </a:p>
          <a:p>
            <a:pPr algn="l"/>
            <a:endParaRPr sz="13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300" b="0" dirty="0">
                <a:solidFill>
                  <a:srgbClr val="222222"/>
                </a:solidFill>
                <a:latin typeface="Calibri"/>
              </a:rPr>
              <a:t>Up to 13 </a:t>
            </a:r>
            <a:r>
              <a:rPr sz="1300" b="0" dirty="0" err="1">
                <a:solidFill>
                  <a:srgbClr val="222222"/>
                </a:solidFill>
                <a:latin typeface="Calibri"/>
              </a:rPr>
              <a:t>storeys</a:t>
            </a:r>
            <a:r>
              <a:rPr sz="1300" b="0" dirty="0">
                <a:solidFill>
                  <a:srgbClr val="222222"/>
                </a:solidFill>
                <a:latin typeface="Calibri"/>
              </a:rPr>
              <a:t> · 96 units/block · 104-122 m2 · North-South vector.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4</a:t>
            </a:r>
            <a:r>
              <a:rPr sz="2800" b="1" dirty="0">
                <a:solidFill>
                  <a:srgbClr val="FFFFFF"/>
                </a:solidFill>
              </a:rPr>
              <a:t>. Reference Floor Plans — 4-Room &amp; 5-Room (dimensioned)</a:t>
            </a:r>
          </a:p>
          <a:p>
            <a:r>
              <a:rPr sz="1300" dirty="0">
                <a:solidFill>
                  <a:srgbClr val="BFD3EA"/>
                </a:solidFill>
              </a:rPr>
              <a:t>Standard HDB plans for the unit type · scale 1:100 · indicative for 857-864A</a:t>
            </a:r>
          </a:p>
        </p:txBody>
      </p:sp>
      <p:pic>
        <p:nvPicPr>
          <p:cNvPr id="3" name="Picture 2" descr="fp_4room_modelA_1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34440"/>
            <a:ext cx="3438144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63040" y="5550408"/>
            <a:ext cx="34381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F6BD6"/>
                </a:solidFill>
                <a:latin typeface="Calibri"/>
              </a:rPr>
              <a:t>4-Room Model A (~104 m²)</a:t>
            </a:r>
          </a:p>
        </p:txBody>
      </p:sp>
      <p:pic>
        <p:nvPicPr>
          <p:cNvPr id="5" name="Picture 4" descr="fp_5room_improved_1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234440"/>
            <a:ext cx="3438144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5550408"/>
            <a:ext cx="34381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D64545"/>
                </a:solidFill>
                <a:latin typeface="Calibri"/>
              </a:rPr>
              <a:t>5-Room Improved (~121 m²)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19088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D64545"/>
                </a:solidFill>
                <a:latin typeface="Calibri"/>
              </a:rPr>
              <a:t>Reference plans are DIMENSIONED standard HDB plans for the unit type (scale 1:100), indicative for blocks 857-864A - not the exact block drawings. Source: housingmap.sg / teoalida.com. Verify via HDB InfoWEB.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/>
            <a:r>
              <a:rPr lang="en-US" sz="2800" b="1">
                <a:solidFill>
                  <a:srgbClr val="FFFFFF"/>
                </a:solidFill>
              </a:rPr>
              <a:t>5</a:t>
            </a:r>
            <a:r>
              <a:rPr sz="2800" b="1">
                <a:solidFill>
                  <a:srgbClr val="FFFFFF"/>
                </a:solidFill>
              </a:rPr>
              <a:t>. </a:t>
            </a:r>
            <a:r>
              <a:rPr sz="2800" b="1" dirty="0">
                <a:solidFill>
                  <a:srgbClr val="FFFFFF"/>
                </a:solidFill>
              </a:rPr>
              <a:t>Reference Floor Plan — Executive </a:t>
            </a:r>
            <a:r>
              <a:rPr sz="2800" b="1" dirty="0" err="1">
                <a:solidFill>
                  <a:srgbClr val="FFFFFF"/>
                </a:solidFill>
              </a:rPr>
              <a:t>Maisonette</a:t>
            </a:r>
            <a:r>
              <a:rPr sz="2800" b="1" dirty="0">
                <a:solidFill>
                  <a:srgbClr val="FFFFFF"/>
                </a:solidFill>
              </a:rPr>
              <a:t> (dimensioned)</a:t>
            </a:r>
          </a:p>
          <a:p>
            <a:r>
              <a:rPr sz="1300" dirty="0">
                <a:solidFill>
                  <a:srgbClr val="BFD3EA"/>
                </a:solidFill>
              </a:rPr>
              <a:t>Two-</a:t>
            </a:r>
            <a:r>
              <a:rPr sz="1300" dirty="0" err="1">
                <a:solidFill>
                  <a:srgbClr val="BFD3EA"/>
                </a:solidFill>
              </a:rPr>
              <a:t>storey</a:t>
            </a:r>
            <a:r>
              <a:rPr sz="1300" dirty="0">
                <a:solidFill>
                  <a:srgbClr val="BFD3EA"/>
                </a:solidFill>
              </a:rPr>
              <a:t> standard HDB plan · scale 1:100 · indicative for blocks 857 &amp; 863</a:t>
            </a:r>
          </a:p>
        </p:txBody>
      </p:sp>
      <p:pic>
        <p:nvPicPr>
          <p:cNvPr id="3" name="Picture 2" descr="fp_exec_maisonette_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206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554480"/>
            <a:ext cx="49377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Executive Maisonette (Duplex, 146–154 m²)</a:t>
            </a:r>
          </a:p>
          <a:p>
            <a:pPr algn="l"/>
            <a:endParaRPr sz="1300" b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Lower floor: living + dining + kitchen + utility + guest WC, balconies.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Upper floor: master bedroom (en-suite) + bedrooms 2 &amp; 3 + 2 baths.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Internal staircase links the two levels.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Double-height glazing at balcony; casement windows upstairs.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North–South axis orientation (blocks 857 &amp; 863).</a:t>
            </a:r>
          </a:p>
          <a:p>
            <a:pPr algn="l"/>
            <a:endParaRPr sz="1300" b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This standard 1983–1987 corridor Maisonette (147 m²) matches the era and size of blocks 857/863; the plan is dimensioned at 1:100 but is indicative for the type, not the exact block drawing.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19088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D64545"/>
                </a:solidFill>
                <a:latin typeface="Calibri"/>
              </a:rPr>
              <a:t>Reference plans are DIMENSIONED standard HDB plans for the unit type (scale 1:100), indicative for blocks 857-864A - not the exact block drawings. Source: housingmap.sg / teoalida.com. Verify via HDB InfoWEB.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1342</Words>
  <Application>Microsoft Office PowerPoint</Application>
  <PresentationFormat>Widescreen</PresentationFormat>
  <Paragraphs>288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Heng Si Liang</cp:lastModifiedBy>
  <cp:revision>2</cp:revision>
  <dcterms:created xsi:type="dcterms:W3CDTF">2013-01-27T09:14:16Z</dcterms:created>
  <dcterms:modified xsi:type="dcterms:W3CDTF">2026-07-16T04:05:32Z</dcterms:modified>
  <cp:category/>
</cp:coreProperties>
</file>